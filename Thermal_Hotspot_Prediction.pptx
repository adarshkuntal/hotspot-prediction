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70" r:id="rId11"/>
    <p:sldId id="272" r:id="rId12"/>
    <p:sldId id="274" r:id="rId13"/>
    <p:sldId id="27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mya Singhal IIT Kanpur" userId="f4ced5c4443aa5fb" providerId="LiveId" clId="{D9FC7581-F6AD-44E1-B9EC-431C56C85D63}"/>
    <pc:docChg chg="undo custSel delSld modSld">
      <pc:chgData name="Saumya Singhal IIT Kanpur" userId="f4ced5c4443aa5fb" providerId="LiveId" clId="{D9FC7581-F6AD-44E1-B9EC-431C56C85D63}" dt="2026-04-20T07:55:36.511" v="156" actId="478"/>
      <pc:docMkLst>
        <pc:docMk/>
      </pc:docMkLst>
      <pc:sldChg chg="delSp modSp mod">
        <pc:chgData name="Saumya Singhal IIT Kanpur" userId="f4ced5c4443aa5fb" providerId="LiveId" clId="{D9FC7581-F6AD-44E1-B9EC-431C56C85D63}" dt="2026-04-18T06:41:42.656" v="12" actId="478"/>
        <pc:sldMkLst>
          <pc:docMk/>
          <pc:sldMk cId="0" sldId="256"/>
        </pc:sldMkLst>
      </pc:sldChg>
      <pc:sldChg chg="delSp modSp mod">
        <pc:chgData name="Saumya Singhal IIT Kanpur" userId="f4ced5c4443aa5fb" providerId="LiveId" clId="{D9FC7581-F6AD-44E1-B9EC-431C56C85D63}" dt="2026-04-20T07:46:01.776" v="104" actId="478"/>
        <pc:sldMkLst>
          <pc:docMk/>
          <pc:sldMk cId="0" sldId="258"/>
        </pc:sldMkLst>
        <pc:spChg chg="del">
          <ac:chgData name="Saumya Singhal IIT Kanpur" userId="f4ced5c4443aa5fb" providerId="LiveId" clId="{D9FC7581-F6AD-44E1-B9EC-431C56C85D63}" dt="2026-04-20T07:46:01.776" v="104" actId="478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Saumya Singhal IIT Kanpur" userId="f4ced5c4443aa5fb" providerId="LiveId" clId="{D9FC7581-F6AD-44E1-B9EC-431C56C85D63}" dt="2026-04-20T07:45:58.092" v="103" actId="478"/>
          <ac:spMkLst>
            <pc:docMk/>
            <pc:sldMk cId="0" sldId="258"/>
            <ac:spMk id="28" creationId="{00000000-0000-0000-0000-000000000000}"/>
          </ac:spMkLst>
        </pc:spChg>
      </pc:sldChg>
      <pc:sldChg chg="modSp mod">
        <pc:chgData name="Saumya Singhal IIT Kanpur" userId="f4ced5c4443aa5fb" providerId="LiveId" clId="{D9FC7581-F6AD-44E1-B9EC-431C56C85D63}" dt="2026-04-20T07:47:10.625" v="115" actId="20577"/>
        <pc:sldMkLst>
          <pc:docMk/>
          <pc:sldMk cId="0" sldId="259"/>
        </pc:sldMkLst>
        <pc:spChg chg="mod">
          <ac:chgData name="Saumya Singhal IIT Kanpur" userId="f4ced5c4443aa5fb" providerId="LiveId" clId="{D9FC7581-F6AD-44E1-B9EC-431C56C85D63}" dt="2026-04-20T07:47:10.625" v="115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20T07:46:47.419" v="111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20T07:47:01.159" v="114" actId="1076"/>
          <ac:spMkLst>
            <pc:docMk/>
            <pc:sldMk cId="0" sldId="259"/>
            <ac:spMk id="32" creationId="{00000000-0000-0000-0000-000000000000}"/>
          </ac:spMkLst>
        </pc:spChg>
      </pc:sldChg>
      <pc:sldChg chg="modSp mod">
        <pc:chgData name="Saumya Singhal IIT Kanpur" userId="f4ced5c4443aa5fb" providerId="LiveId" clId="{D9FC7581-F6AD-44E1-B9EC-431C56C85D63}" dt="2026-04-20T07:47:31.636" v="116" actId="1076"/>
        <pc:sldMkLst>
          <pc:docMk/>
          <pc:sldMk cId="0" sldId="260"/>
        </pc:sldMkLst>
        <pc:spChg chg="mod">
          <ac:chgData name="Saumya Singhal IIT Kanpur" userId="f4ced5c4443aa5fb" providerId="LiveId" clId="{D9FC7581-F6AD-44E1-B9EC-431C56C85D63}" dt="2026-04-20T07:47:31.636" v="116" actId="1076"/>
          <ac:spMkLst>
            <pc:docMk/>
            <pc:sldMk cId="0" sldId="260"/>
            <ac:spMk id="38" creationId="{00000000-0000-0000-0000-000000000000}"/>
          </ac:spMkLst>
        </pc:spChg>
      </pc:sldChg>
      <pc:sldChg chg="modSp mod">
        <pc:chgData name="Saumya Singhal IIT Kanpur" userId="f4ced5c4443aa5fb" providerId="LiveId" clId="{D9FC7581-F6AD-44E1-B9EC-431C56C85D63}" dt="2026-04-20T07:48:04.770" v="126" actId="20577"/>
        <pc:sldMkLst>
          <pc:docMk/>
          <pc:sldMk cId="0" sldId="261"/>
        </pc:sldMkLst>
        <pc:spChg chg="mod">
          <ac:chgData name="Saumya Singhal IIT Kanpur" userId="f4ced5c4443aa5fb" providerId="LiveId" clId="{D9FC7581-F6AD-44E1-B9EC-431C56C85D63}" dt="2026-04-20T07:48:04.770" v="126" actId="20577"/>
          <ac:spMkLst>
            <pc:docMk/>
            <pc:sldMk cId="0" sldId="261"/>
            <ac:spMk id="27" creationId="{00000000-0000-0000-0000-000000000000}"/>
          </ac:spMkLst>
        </pc:spChg>
      </pc:sldChg>
      <pc:sldChg chg="delSp modSp mod">
        <pc:chgData name="Saumya Singhal IIT Kanpur" userId="f4ced5c4443aa5fb" providerId="LiveId" clId="{D9FC7581-F6AD-44E1-B9EC-431C56C85D63}" dt="2026-04-20T07:53:56.231" v="132" actId="478"/>
        <pc:sldMkLst>
          <pc:docMk/>
          <pc:sldMk cId="0" sldId="262"/>
        </pc:sldMkLst>
        <pc:spChg chg="del">
          <ac:chgData name="Saumya Singhal IIT Kanpur" userId="f4ced5c4443aa5fb" providerId="LiveId" clId="{D9FC7581-F6AD-44E1-B9EC-431C56C85D63}" dt="2026-04-20T07:53:56.231" v="132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18T07:34:29.288" v="37" actId="20577"/>
          <ac:spMkLst>
            <pc:docMk/>
            <pc:sldMk cId="0" sldId="262"/>
            <ac:spMk id="7" creationId="{00000000-0000-0000-0000-000000000000}"/>
          </ac:spMkLst>
        </pc:spChg>
        <pc:spChg chg="del">
          <ac:chgData name="Saumya Singhal IIT Kanpur" userId="f4ced5c4443aa5fb" providerId="LiveId" clId="{D9FC7581-F6AD-44E1-B9EC-431C56C85D63}" dt="2026-04-20T07:53:09.301" v="127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Saumya Singhal IIT Kanpur" userId="f4ced5c4443aa5fb" providerId="LiveId" clId="{D9FC7581-F6AD-44E1-B9EC-431C56C85D63}" dt="2026-04-20T07:53:32.737" v="130" actId="47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20T07:53:11.735" v="128" actId="6549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20T07:53:28.481" v="129" actId="6549"/>
          <ac:spMkLst>
            <pc:docMk/>
            <pc:sldMk cId="0" sldId="262"/>
            <ac:spMk id="23" creationId="{00000000-0000-0000-0000-000000000000}"/>
          </ac:spMkLst>
        </pc:spChg>
        <pc:spChg chg="del">
          <ac:chgData name="Saumya Singhal IIT Kanpur" userId="f4ced5c4443aa5fb" providerId="LiveId" clId="{D9FC7581-F6AD-44E1-B9EC-431C56C85D63}" dt="2026-04-20T07:53:43.112" v="131" actId="478"/>
          <ac:spMkLst>
            <pc:docMk/>
            <pc:sldMk cId="0" sldId="262"/>
            <ac:spMk id="24" creationId="{00000000-0000-0000-0000-000000000000}"/>
          </ac:spMkLst>
        </pc:spChg>
      </pc:sldChg>
      <pc:sldChg chg="delSp modSp mod">
        <pc:chgData name="Saumya Singhal IIT Kanpur" userId="f4ced5c4443aa5fb" providerId="LiveId" clId="{D9FC7581-F6AD-44E1-B9EC-431C56C85D63}" dt="2026-04-18T07:35:58.775" v="68" actId="1076"/>
        <pc:sldMkLst>
          <pc:docMk/>
          <pc:sldMk cId="0" sldId="266"/>
        </pc:sldMkLst>
        <pc:spChg chg="mod">
          <ac:chgData name="Saumya Singhal IIT Kanpur" userId="f4ced5c4443aa5fb" providerId="LiveId" clId="{D9FC7581-F6AD-44E1-B9EC-431C56C85D63}" dt="2026-04-18T07:35:47.322" v="66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18T07:35:53.482" v="67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18T07:35:58.775" v="68" actId="1076"/>
          <ac:spMkLst>
            <pc:docMk/>
            <pc:sldMk cId="0" sldId="266"/>
            <ac:spMk id="11" creationId="{00000000-0000-0000-0000-000000000000}"/>
          </ac:spMkLst>
        </pc:spChg>
        <pc:graphicFrameChg chg="modGraphic">
          <ac:chgData name="Saumya Singhal IIT Kanpur" userId="f4ced5c4443aa5fb" providerId="LiveId" clId="{D9FC7581-F6AD-44E1-B9EC-431C56C85D63}" dt="2026-04-18T07:35:29.049" v="62" actId="14734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addSp delSp modSp mod">
        <pc:chgData name="Saumya Singhal IIT Kanpur" userId="f4ced5c4443aa5fb" providerId="LiveId" clId="{D9FC7581-F6AD-44E1-B9EC-431C56C85D63}" dt="2026-04-20T07:55:12.675" v="155" actId="1076"/>
        <pc:sldMkLst>
          <pc:docMk/>
          <pc:sldMk cId="0" sldId="267"/>
        </pc:sldMkLst>
        <pc:spChg chg="mod">
          <ac:chgData name="Saumya Singhal IIT Kanpur" userId="f4ced5c4443aa5fb" providerId="LiveId" clId="{D9FC7581-F6AD-44E1-B9EC-431C56C85D63}" dt="2026-04-18T07:36:16.939" v="74" actId="20577"/>
          <ac:spMkLst>
            <pc:docMk/>
            <pc:sldMk cId="0" sldId="267"/>
            <ac:spMk id="8" creationId="{00000000-0000-0000-0000-000000000000}"/>
          </ac:spMkLst>
        </pc:spChg>
        <pc:graphicFrameChg chg="del">
          <ac:chgData name="Saumya Singhal IIT Kanpur" userId="f4ced5c4443aa5fb" providerId="LiveId" clId="{D9FC7581-F6AD-44E1-B9EC-431C56C85D63}" dt="2026-04-20T07:55:04.694" v="152" actId="478"/>
          <ac:graphicFrameMkLst>
            <pc:docMk/>
            <pc:sldMk cId="0" sldId="267"/>
            <ac:graphicFrameMk id="5" creationId="{00000000-0000-0000-0000-000000000000}"/>
          </ac:graphicFrameMkLst>
        </pc:graphicFrameChg>
        <pc:graphicFrameChg chg="del">
          <ac:chgData name="Saumya Singhal IIT Kanpur" userId="f4ced5c4443aa5fb" providerId="LiveId" clId="{D9FC7581-F6AD-44E1-B9EC-431C56C85D63}" dt="2026-04-20T07:55:06.794" v="153" actId="478"/>
          <ac:graphicFrameMkLst>
            <pc:docMk/>
            <pc:sldMk cId="0" sldId="267"/>
            <ac:graphicFrameMk id="6" creationId="{00000000-0000-0000-0000-000000000000}"/>
          </ac:graphicFrameMkLst>
        </pc:graphicFrameChg>
        <pc:graphicFrameChg chg="del">
          <ac:chgData name="Saumya Singhal IIT Kanpur" userId="f4ced5c4443aa5fb" providerId="LiveId" clId="{D9FC7581-F6AD-44E1-B9EC-431C56C85D63}" dt="2026-04-20T07:55:08.806" v="154" actId="478"/>
          <ac:graphicFrameMkLst>
            <pc:docMk/>
            <pc:sldMk cId="0" sldId="267"/>
            <ac:graphicFrameMk id="7" creationId="{00000000-0000-0000-0000-000000000000}"/>
          </ac:graphicFrameMkLst>
        </pc:graphicFrameChg>
        <pc:picChg chg="add mod">
          <ac:chgData name="Saumya Singhal IIT Kanpur" userId="f4ced5c4443aa5fb" providerId="LiveId" clId="{D9FC7581-F6AD-44E1-B9EC-431C56C85D63}" dt="2026-04-20T07:55:12.675" v="155" actId="1076"/>
          <ac:picMkLst>
            <pc:docMk/>
            <pc:sldMk cId="0" sldId="267"/>
            <ac:picMk id="10" creationId="{6FCF23CD-1E5C-B6DC-E64A-D1ED21BD6608}"/>
          </ac:picMkLst>
        </pc:picChg>
      </pc:sldChg>
      <pc:sldChg chg="modSp mod">
        <pc:chgData name="Saumya Singhal IIT Kanpur" userId="f4ced5c4443aa5fb" providerId="LiveId" clId="{D9FC7581-F6AD-44E1-B9EC-431C56C85D63}" dt="2026-04-20T07:54:10.898" v="148" actId="20577"/>
        <pc:sldMkLst>
          <pc:docMk/>
          <pc:sldMk cId="0" sldId="268"/>
        </pc:sldMkLst>
        <pc:spChg chg="mod">
          <ac:chgData name="Saumya Singhal IIT Kanpur" userId="f4ced5c4443aa5fb" providerId="LiveId" clId="{D9FC7581-F6AD-44E1-B9EC-431C56C85D63}" dt="2026-04-20T07:54:10.898" v="148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20T07:54:06.257" v="140" actId="20577"/>
          <ac:spMkLst>
            <pc:docMk/>
            <pc:sldMk cId="0" sldId="268"/>
            <ac:spMk id="23" creationId="{00000000-0000-0000-0000-000000000000}"/>
          </ac:spMkLst>
        </pc:spChg>
      </pc:sldChg>
      <pc:sldChg chg="modSp mod">
        <pc:chgData name="Saumya Singhal IIT Kanpur" userId="f4ced5c4443aa5fb" providerId="LiveId" clId="{D9FC7581-F6AD-44E1-B9EC-431C56C85D63}" dt="2026-04-18T07:36:30.745" v="92" actId="20577"/>
        <pc:sldMkLst>
          <pc:docMk/>
          <pc:sldMk cId="0" sldId="270"/>
        </pc:sldMkLst>
        <pc:spChg chg="mod">
          <ac:chgData name="Saumya Singhal IIT Kanpur" userId="f4ced5c4443aa5fb" providerId="LiveId" clId="{D9FC7581-F6AD-44E1-B9EC-431C56C85D63}" dt="2026-04-18T07:36:30.745" v="92" actId="20577"/>
          <ac:spMkLst>
            <pc:docMk/>
            <pc:sldMk cId="0" sldId="270"/>
            <ac:spMk id="72" creationId="{00000000-0000-0000-0000-000000000000}"/>
          </ac:spMkLst>
        </pc:spChg>
      </pc:sldChg>
      <pc:sldChg chg="delSp mod">
        <pc:chgData name="Saumya Singhal IIT Kanpur" userId="f4ced5c4443aa5fb" providerId="LiveId" clId="{D9FC7581-F6AD-44E1-B9EC-431C56C85D63}" dt="2026-04-20T07:55:36.511" v="156" actId="478"/>
        <pc:sldMkLst>
          <pc:docMk/>
          <pc:sldMk cId="0" sldId="274"/>
        </pc:sldMkLst>
        <pc:spChg chg="del">
          <ac:chgData name="Saumya Singhal IIT Kanpur" userId="f4ced5c4443aa5fb" providerId="LiveId" clId="{D9FC7581-F6AD-44E1-B9EC-431C56C85D63}" dt="2026-04-20T07:55:36.511" v="156" actId="478"/>
          <ac:spMkLst>
            <pc:docMk/>
            <pc:sldMk cId="0" sldId="274"/>
            <ac:spMk id="3" creationId="{00000000-0000-0000-0000-000000000000}"/>
          </ac:spMkLst>
        </pc:spChg>
      </pc:sldChg>
      <pc:sldChg chg="delSp modSp mod">
        <pc:chgData name="Saumya Singhal IIT Kanpur" userId="f4ced5c4443aa5fb" providerId="LiveId" clId="{D9FC7581-F6AD-44E1-B9EC-431C56C85D63}" dt="2026-04-18T07:37:11.945" v="101" actId="20577"/>
        <pc:sldMkLst>
          <pc:docMk/>
          <pc:sldMk cId="0" sldId="275"/>
        </pc:sldMkLst>
        <pc:spChg chg="mod">
          <ac:chgData name="Saumya Singhal IIT Kanpur" userId="f4ced5c4443aa5fb" providerId="LiveId" clId="{D9FC7581-F6AD-44E1-B9EC-431C56C85D63}" dt="2026-04-18T07:37:04.255" v="98" actId="20577"/>
          <ac:spMkLst>
            <pc:docMk/>
            <pc:sldMk cId="0" sldId="275"/>
            <ac:spMk id="21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18T07:37:08.380" v="99" actId="20577"/>
          <ac:spMkLst>
            <pc:docMk/>
            <pc:sldMk cId="0" sldId="275"/>
            <ac:spMk id="25" creationId="{00000000-0000-0000-0000-000000000000}"/>
          </ac:spMkLst>
        </pc:spChg>
        <pc:spChg chg="mod">
          <ac:chgData name="Saumya Singhal IIT Kanpur" userId="f4ced5c4443aa5fb" providerId="LiveId" clId="{D9FC7581-F6AD-44E1-B9EC-431C56C85D63}" dt="2026-04-18T07:37:11.945" v="101" actId="20577"/>
          <ac:spMkLst>
            <pc:docMk/>
            <pc:sldMk cId="0" sldId="275"/>
            <ac:spMk id="2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Temperature Cross-Section Through Hotspot Centre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Physics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328</c:v>
                </c:pt>
                <c:pt idx="1">
                  <c:v>328.5</c:v>
                </c:pt>
                <c:pt idx="2">
                  <c:v>329.5</c:v>
                </c:pt>
                <c:pt idx="3">
                  <c:v>332</c:v>
                </c:pt>
                <c:pt idx="4">
                  <c:v>337</c:v>
                </c:pt>
                <c:pt idx="5">
                  <c:v>348</c:v>
                </c:pt>
                <c:pt idx="6">
                  <c:v>337</c:v>
                </c:pt>
                <c:pt idx="7">
                  <c:v>332</c:v>
                </c:pt>
                <c:pt idx="8">
                  <c:v>329.5</c:v>
                </c:pt>
                <c:pt idx="9">
                  <c:v>328.5</c:v>
                </c:pt>
                <c:pt idx="10">
                  <c:v>328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3CC-40FD-A540-F041929574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ln w="2540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328.1</c:v>
                </c:pt>
                <c:pt idx="1">
                  <c:v>328.6</c:v>
                </c:pt>
                <c:pt idx="2">
                  <c:v>329.7</c:v>
                </c:pt>
                <c:pt idx="3">
                  <c:v>332.2</c:v>
                </c:pt>
                <c:pt idx="4">
                  <c:v>336.8</c:v>
                </c:pt>
                <c:pt idx="5">
                  <c:v>347.5</c:v>
                </c:pt>
                <c:pt idx="6">
                  <c:v>336.8</c:v>
                </c:pt>
                <c:pt idx="7">
                  <c:v>332.2</c:v>
                </c:pt>
                <c:pt idx="8">
                  <c:v>329.7</c:v>
                </c:pt>
                <c:pt idx="9">
                  <c:v>328.6</c:v>
                </c:pt>
                <c:pt idx="10">
                  <c:v>328.1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3CC-40FD-A540-F0419295743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ln w="25400" cap="flat">
              <a:solidFill>
                <a:srgbClr val="F482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821E"/>
              </a:solidFill>
              <a:ln w="9525" cap="flat">
                <a:solidFill>
                  <a:srgbClr val="F4821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328</c:v>
                </c:pt>
                <c:pt idx="1">
                  <c:v>328</c:v>
                </c:pt>
                <c:pt idx="2">
                  <c:v>329</c:v>
                </c:pt>
                <c:pt idx="3">
                  <c:v>331</c:v>
                </c:pt>
                <c:pt idx="4">
                  <c:v>336</c:v>
                </c:pt>
                <c:pt idx="5">
                  <c:v>345</c:v>
                </c:pt>
                <c:pt idx="6">
                  <c:v>336</c:v>
                </c:pt>
                <c:pt idx="7">
                  <c:v>331</c:v>
                </c:pt>
                <c:pt idx="8">
                  <c:v>329</c:v>
                </c:pt>
                <c:pt idx="9">
                  <c:v>328</c:v>
                </c:pt>
                <c:pt idx="10">
                  <c:v>328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3CC-40FD-A540-F0419295743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OLS/Ridge</c:v>
                </c:pt>
              </c:strCache>
            </c:strRef>
          </c:tx>
          <c:spPr>
            <a:ln w="25400" cap="flat">
              <a:solidFill>
                <a:srgbClr val="1B6C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6CA8"/>
              </a:solidFill>
              <a:ln w="9525" cap="flat">
                <a:solidFill>
                  <a:srgbClr val="1B6CA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329</c:v>
                </c:pt>
                <c:pt idx="1">
                  <c:v>329.5</c:v>
                </c:pt>
                <c:pt idx="2">
                  <c:v>330.5</c:v>
                </c:pt>
                <c:pt idx="3">
                  <c:v>332.5</c:v>
                </c:pt>
                <c:pt idx="4">
                  <c:v>334.5</c:v>
                </c:pt>
                <c:pt idx="5">
                  <c:v>336</c:v>
                </c:pt>
                <c:pt idx="6">
                  <c:v>334.5</c:v>
                </c:pt>
                <c:pt idx="7">
                  <c:v>332.5</c:v>
                </c:pt>
                <c:pt idx="8">
                  <c:v>330.5</c:v>
                </c:pt>
                <c:pt idx="9">
                  <c:v>329.5</c:v>
                </c:pt>
                <c:pt idx="10">
                  <c:v>329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3CC-40FD-A540-F041929574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9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9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B16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17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20040"/>
            <a:ext cx="164592" cy="164592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480560"/>
            <a:ext cx="164592" cy="164592"/>
          </a:xfrm>
          <a:prstGeom prst="ellipse">
            <a:avLst/>
          </a:prstGeom>
          <a:solidFill>
            <a:srgbClr val="F4821E">
              <a:alpha val="60000"/>
            </a:srgbClr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320040"/>
            <a:ext cx="164592" cy="164592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4480560"/>
            <a:ext cx="164592" cy="164592"/>
          </a:xfrm>
          <a:prstGeom prst="ellipse">
            <a:avLst/>
          </a:prstGeom>
          <a:solidFill>
            <a:srgbClr val="F4821E">
              <a:alpha val="60000"/>
            </a:srgbClr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320040"/>
            <a:ext cx="164592" cy="164592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4480560"/>
            <a:ext cx="164592" cy="164592"/>
          </a:xfrm>
          <a:prstGeom prst="ellipse">
            <a:avLst/>
          </a:prstGeom>
          <a:solidFill>
            <a:srgbClr val="F4821E">
              <a:alpha val="60000"/>
            </a:srgbClr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20040"/>
            <a:ext cx="164592" cy="164592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4480560"/>
            <a:ext cx="164592" cy="164592"/>
          </a:xfrm>
          <a:prstGeom prst="ellipse">
            <a:avLst/>
          </a:prstGeom>
          <a:solidFill>
            <a:srgbClr val="F4821E">
              <a:alpha val="60000"/>
            </a:srgbClr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402336"/>
            <a:ext cx="1508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4562856"/>
            <a:ext cx="1508760" cy="0"/>
          </a:xfrm>
          <a:prstGeom prst="line">
            <a:avLst/>
          </a:prstGeom>
          <a:noFill/>
          <a:ln w="19050">
            <a:solidFill>
              <a:srgbClr val="F482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109728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109728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09728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92024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920240"/>
            <a:ext cx="502920" cy="594360"/>
          </a:xfrm>
          <a:prstGeom prst="rect">
            <a:avLst/>
          </a:prstGeom>
          <a:solidFill>
            <a:srgbClr val="E6394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92024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274320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274320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743200"/>
            <a:ext cx="502920" cy="594360"/>
          </a:xfrm>
          <a:prstGeom prst="rect">
            <a:avLst/>
          </a:prstGeom>
          <a:solidFill>
            <a:srgbClr val="1B6CA8">
              <a:alpha val="4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Hotspot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Chips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57200" y="2971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Saumya Singhal</a:t>
            </a:r>
            <a:r>
              <a:rPr lang="en-US" sz="13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230940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ME644  •  IIT Kanpur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Chips Overheat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thermal challenge in modern electronics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43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transistors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switching event dissipates heat. Modern CPUs generate heat densities of 10–100 W/mm².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122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121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heat distribution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414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 run 10–15× hotter than memory blocks, creating localised 'thermal hotspots'.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900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throttling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91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automatically slows down to prevent damage — visible as sudden performance drops.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2219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867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877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Electromigration &amp; aging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1696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temperatures push metal atoms apart, causing microscopic breaks and shortened lifespan.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1188720"/>
            <a:ext cx="310896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1234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Simulation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1627632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Highly accurate
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Hours per simulation
✗  Cannot explore 1000s of designs
✗  Not feasible in design 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3154680"/>
            <a:ext cx="3108960" cy="1508760"/>
          </a:xfrm>
          <a:prstGeom prst="rect">
            <a:avLst/>
          </a:prstGeom>
          <a:solidFill>
            <a:srgbClr val="0F3A5E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3200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Surrogate 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3547872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Millisecond inference
✓  1000s of designs explored
✓  Trained once, used forever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of Heat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Fourier's law, thermal resistance stack &amp; the Gaussian hotspot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 (Fourier's Law)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 · [k(x)∇T(x)] + Q(x)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conductivity   Q = heat generated   T = temperature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Ohm's Law Analogy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 = Q × Rθ,total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9535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V = IR — more resistance → more temperature rise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Hotspot Temperature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T(x,y) = T_boundary  +  Q_base × R_total  +  Q_block × exp[-(x-x₀)² + (y-y₀)²) / 2σ²] × R_local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069080" cy="274320"/>
          </a:xfrm>
          <a:prstGeom prst="rect">
            <a:avLst/>
          </a:prstGeom>
          <a:solidFill>
            <a:srgbClr val="4A90D9">
              <a:alpha val="55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1612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Sink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453896"/>
            <a:ext cx="4069080" cy="274320"/>
          </a:xfrm>
          <a:prstGeom prst="rect">
            <a:avLst/>
          </a:prstGeom>
          <a:solidFill>
            <a:srgbClr val="5BA85A">
              <a:alpha val="55000"/>
            </a:srgbClr>
          </a:solidFill>
          <a:ln w="10160">
            <a:solidFill>
              <a:srgbClr val="5BA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721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764792"/>
            <a:ext cx="4069080" cy="274320"/>
          </a:xfrm>
          <a:prstGeom prst="rect">
            <a:avLst/>
          </a:prstGeom>
          <a:solidFill>
            <a:srgbClr val="5BA85A">
              <a:alpha val="55000"/>
            </a:srgbClr>
          </a:solidFill>
          <a:ln w="10160">
            <a:solidFill>
              <a:srgbClr val="5BA8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7830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Spreader (IHS)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075688"/>
            <a:ext cx="4069080" cy="274320"/>
          </a:xfrm>
          <a:prstGeom prst="rect">
            <a:avLst/>
          </a:prstGeom>
          <a:solidFill>
            <a:srgbClr val="D4A843">
              <a:alpha val="55000"/>
            </a:srgbClr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0939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Interconnects (Cu/W)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386584"/>
            <a:ext cx="4069080" cy="274320"/>
          </a:xfrm>
          <a:prstGeom prst="rect">
            <a:avLst/>
          </a:prstGeom>
          <a:solidFill>
            <a:srgbClr val="E63946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4048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Die (Active Layer) 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697480"/>
            <a:ext cx="4069080" cy="274320"/>
          </a:xfrm>
          <a:prstGeom prst="rect">
            <a:avLst/>
          </a:prstGeom>
          <a:solidFill>
            <a:srgbClr val="7B8B9A">
              <a:alpha val="55000"/>
            </a:srgbClr>
          </a:solidFill>
          <a:ln w="10160">
            <a:solidFill>
              <a:srgbClr val="7B8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715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Substrate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008376"/>
            <a:ext cx="4069080" cy="274320"/>
          </a:xfrm>
          <a:prstGeom prst="rect">
            <a:avLst/>
          </a:prstGeom>
          <a:solidFill>
            <a:srgbClr val="5C6B7A">
              <a:alpha val="55000"/>
            </a:srgbClr>
          </a:solidFill>
          <a:ln w="10160">
            <a:solidFill>
              <a:srgbClr val="5C6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266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/ Motherboard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89611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Stack (Cross-Section)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1057576"/>
            <a:ext cx="6400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41545" y="3099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physics-informed synthetic samples with 14 input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92608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chip thermal data is highly confidential (Intel, AMD, NVIDIA treat it as IP). We use the known physics equation to generate unlimited, realistic, labelled samples — called a physics-informed dataset.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143000"/>
            <a:ext cx="25146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143000"/>
            <a:ext cx="251460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17957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527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power_density (1–8 W/mm²)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66160" y="1856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block_power_map (0.5–15 W/mm²)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3063240"/>
            <a:ext cx="25146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8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3063240"/>
            <a:ext cx="2514600" cy="32004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09981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Die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447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thermal_cond_si (100–170 W/m·K)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die_thickness (0.3–0.8 mm)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1143000"/>
            <a:ext cx="25146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143000"/>
            <a:ext cx="251460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17957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527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tim_hs_conductance (0.3–1.2 W/cm²K)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1856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boundary_temp (290–330 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2185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metal_cond_Cu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metal_cond_W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63240"/>
            <a:ext cx="25146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6400800" y="3063240"/>
            <a:ext cx="25146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9981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Hotspot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447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x, y  (query coordinates)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hotspot_cx, hotspot_cy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4105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sigma_spot (spread radius)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r_sq = (x-x₀)² + (y-y₀)²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2606040"/>
            <a:ext cx="2926080" cy="822960"/>
          </a:xfrm>
          <a:prstGeom prst="rect">
            <a:avLst/>
          </a:prstGeom>
          <a:solidFill>
            <a:srgbClr val="FFF8E6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285292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r_sq</a:t>
            </a: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derived from x, y, hotspot_cx, hotspot_cy — but pre-computing it gives linear models a chance to approximate the Gaussian decay.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547872"/>
            <a:ext cx="2011680" cy="640080"/>
          </a:xfrm>
          <a:prstGeom prst="rect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8587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178808"/>
            <a:ext cx="2011680" cy="640080"/>
          </a:xfrm>
          <a:prstGeom prst="rect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2611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9,600 / 2,400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4103" y="45445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analysis, scaling, and quality checks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with Temperature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boundary_temp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545336"/>
            <a:ext cx="2230679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9831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+0.697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power_density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020824"/>
            <a:ext cx="1651406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0558" y="1984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59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die_thickness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496312"/>
            <a:ext cx="1116940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6092" y="2459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+0.349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935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thermal_cond_si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971800"/>
            <a:ext cx="62087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030" y="2935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-0.194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r_sq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3447288"/>
            <a:ext cx="390449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9601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block_power_map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3922776"/>
            <a:ext cx="201625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777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98566" y="1143000"/>
            <a:ext cx="3733953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183185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(Z-score)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4630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x̃ⱼ = (xⱼ − μⱼ) / σⱼ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78308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to OLS and MLP (not RF)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Scaler fitted on training set only — prevents data leakage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Ensures equal gradient weight across all features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724912"/>
            <a:ext cx="3886200" cy="1920240"/>
          </a:xfrm>
          <a:prstGeom prst="rect">
            <a:avLst/>
          </a:prstGeom>
          <a:solidFill>
            <a:srgbClr val="FFF8E6"/>
          </a:solidFill>
          <a:ln w="12700">
            <a:solidFill>
              <a:srgbClr val="F48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752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is block_power_map correlation so low?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063240"/>
            <a:ext cx="3703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physically crucial (drives the hotspot), block_power_map has r = 0.063 with temperature.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Its effect depends entirely on proximity (r_sq). At hotspot centre: huge effect. Far away: negligible effect. This spatial interaction is inherently nonlinear — linear correlation misses it entirely.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nonlinear models outperform linear ones.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2743200"/>
          </a:xfrm>
          <a:prstGeom prst="rect">
            <a:avLst/>
          </a:prstGeom>
          <a:solidFill>
            <a:srgbClr val="0B1622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56032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647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Linear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286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587752"/>
            <a:ext cx="235915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14 features + regularisation. Interpretable coefficients. Cannot model the Gaussian exponential.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743200"/>
          </a:xfrm>
          <a:prstGeom prst="rect">
            <a:avLst/>
          </a:prstGeom>
          <a:solidFill>
            <a:srgbClr val="0B1622"/>
          </a:solidFill>
          <a:ln w="19050">
            <a:solidFill>
              <a:srgbClr val="F48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560320" cy="50292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7647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286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Ensemble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2587752"/>
            <a:ext cx="235915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trees, each seeing a random data subset. Piecewise-constant approximation of the nonlinear physics.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560320" cy="2743200"/>
          </a:xfrm>
          <a:prstGeom prst="rect">
            <a:avLst/>
          </a:prstGeom>
          <a:solidFill>
            <a:srgbClr val="0B1622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37360"/>
            <a:ext cx="256032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7647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Network (MLP)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2286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Nonlinear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6208" y="2587752"/>
            <a:ext cx="235915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14→128→64→32→1, ReLU activations, Adam optimiser. Smooth differentiable function approximator.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9788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Quantitative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(n = 2,400) across all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124056"/>
              </p:ext>
            </p:extLst>
          </p:nvPr>
        </p:nvGraphicFramePr>
        <p:xfrm>
          <a:off x="365760" y="1188720"/>
          <a:ext cx="8691744" cy="2103120"/>
        </p:xfrm>
        <a:graphic>
          <a:graphicData uri="http://schemas.openxmlformats.org/drawingml/2006/table">
            <a:tbl>
              <a:tblPr/>
              <a:tblGrid>
                <a:gridCol w="1874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3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(K)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(K)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Error (K)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Linear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 ± 0.004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 ± 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 (MLP)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 ± 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65760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685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MLP wins all metrics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99592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R², RMSE, MAE and Max Error — comprehensive superiority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34740" y="3685032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03320" y="36804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Max Error matters most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03320" y="39593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worst-case: 40.53 K. MLP: 10.45 K. 4× safety improvement.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12280" y="365760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3685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overfitting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399592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tracks test R² closely for all models.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Charts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and MAE across all models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65760" y="449884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trend: OLS → RF → MLP  |  Each step adds nonlinear expressiveness and reduces error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CF23CD-1E5C-B6DC-E64A-D1ED21BD6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4577"/>
            <a:ext cx="9144000" cy="3174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Max Error Matters — The Hotspot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Gaussian nonlinearity is where models fail or succeed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Prediction Error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2141281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1633" y="18562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40.53 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1687982" cy="347472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8334" y="26791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31.95 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552094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2446" y="3502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10.45 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improvement in worst-case error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1143000"/>
            <a:ext cx="53949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1170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Gaussian Nonlinearity Challenge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ΔT_hotspot = Q_block × exp(−r²/2σ²) × R_local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181051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3-way interaction (Q_block, r², σ) inside an exponential is fundamentally nonlinear. Errors are worst at hotspot centres where this term peaks.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0" y="2724912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724912"/>
            <a:ext cx="73152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761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29992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fit w·r² — misses the exponential entirely. Predicts too LOW at hotspot centre.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38328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48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383280"/>
            <a:ext cx="73152" cy="566928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4198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0440" y="3657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Piecewise-constant approximation. Blocky prediction near the sharp peak.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4041648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4041648"/>
            <a:ext cx="73152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40782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20440" y="43159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function composition across layers. Approximates the exponential decay almost perfectly.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Thermal Map &amp; 3D Surface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hotspot shape predicted by the models — hotspot at (5,5) mm, σ=0.08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51460" cy="285750"/>
          </a:xfrm>
          <a:prstGeom prst="rect">
            <a:avLst/>
          </a:prstGeom>
          <a:solidFill>
            <a:srgbClr val="0D7F7A"/>
          </a:solidFill>
          <a:ln w="12700">
            <a:solidFill>
              <a:srgbClr val="0D7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234440"/>
            <a:ext cx="251460" cy="285750"/>
          </a:xfrm>
          <a:prstGeom prst="rect">
            <a:avLst/>
          </a:prstGeom>
          <a:solidFill>
            <a:srgbClr val="0F7E79"/>
          </a:solidFill>
          <a:ln w="12700">
            <a:solidFill>
              <a:srgbClr val="0F7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34440"/>
            <a:ext cx="251460" cy="285750"/>
          </a:xfrm>
          <a:prstGeom prst="rect">
            <a:avLst/>
          </a:prstGeom>
          <a:solidFill>
            <a:srgbClr val="127D78"/>
          </a:solidFill>
          <a:ln w="12700">
            <a:solidFill>
              <a:srgbClr val="127D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" y="1234440"/>
            <a:ext cx="251460" cy="285750"/>
          </a:xfrm>
          <a:prstGeom prst="rect">
            <a:avLst/>
          </a:prstGeom>
          <a:solidFill>
            <a:srgbClr val="157B77"/>
          </a:solidFill>
          <a:ln w="12700">
            <a:solidFill>
              <a:srgbClr val="157B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234440"/>
            <a:ext cx="251460" cy="285750"/>
          </a:xfrm>
          <a:prstGeom prst="rect">
            <a:avLst/>
          </a:prstGeom>
          <a:solidFill>
            <a:srgbClr val="177B76"/>
          </a:solidFill>
          <a:ln w="12700">
            <a:solidFill>
              <a:srgbClr val="177B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3060" y="1234440"/>
            <a:ext cx="251460" cy="285750"/>
          </a:xfrm>
          <a:prstGeom prst="rect">
            <a:avLst/>
          </a:prstGeom>
          <a:solidFill>
            <a:srgbClr val="157B77"/>
          </a:solidFill>
          <a:ln w="12700">
            <a:solidFill>
              <a:srgbClr val="157B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1234440"/>
            <a:ext cx="251460" cy="285750"/>
          </a:xfrm>
          <a:prstGeom prst="rect">
            <a:avLst/>
          </a:prstGeom>
          <a:solidFill>
            <a:srgbClr val="127D78"/>
          </a:solidFill>
          <a:ln w="12700">
            <a:solidFill>
              <a:srgbClr val="127D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5980" y="1234440"/>
            <a:ext cx="251460" cy="285750"/>
          </a:xfrm>
          <a:prstGeom prst="rect">
            <a:avLst/>
          </a:prstGeom>
          <a:solidFill>
            <a:srgbClr val="0F7E79"/>
          </a:solidFill>
          <a:ln w="12700">
            <a:solidFill>
              <a:srgbClr val="0F7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20190"/>
            <a:ext cx="251460" cy="285750"/>
          </a:xfrm>
          <a:prstGeom prst="rect">
            <a:avLst/>
          </a:prstGeom>
          <a:solidFill>
            <a:srgbClr val="0F7E79"/>
          </a:solidFill>
          <a:ln w="12700">
            <a:solidFill>
              <a:srgbClr val="0F7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" y="1520190"/>
            <a:ext cx="251460" cy="285750"/>
          </a:xfrm>
          <a:prstGeom prst="rect">
            <a:avLst/>
          </a:prstGeom>
          <a:solidFill>
            <a:srgbClr val="147C78"/>
          </a:solidFill>
          <a:ln w="12700">
            <a:solidFill>
              <a:srgbClr val="147C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52019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0140" y="15201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520190"/>
            <a:ext cx="251460" cy="285750"/>
          </a:xfrm>
          <a:prstGeom prst="rect">
            <a:avLst/>
          </a:prstGeom>
          <a:solidFill>
            <a:srgbClr val="356E6C"/>
          </a:solidFill>
          <a:ln w="12700">
            <a:solidFill>
              <a:srgbClr val="356E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23060" y="15201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152019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25980" y="1520190"/>
            <a:ext cx="251460" cy="285750"/>
          </a:xfrm>
          <a:prstGeom prst="rect">
            <a:avLst/>
          </a:prstGeom>
          <a:solidFill>
            <a:srgbClr val="147C78"/>
          </a:solidFill>
          <a:ln w="12700">
            <a:solidFill>
              <a:srgbClr val="147C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805940"/>
            <a:ext cx="251460" cy="285750"/>
          </a:xfrm>
          <a:prstGeom prst="rect">
            <a:avLst/>
          </a:prstGeom>
          <a:solidFill>
            <a:srgbClr val="127D78"/>
          </a:solidFill>
          <a:ln w="12700">
            <a:solidFill>
              <a:srgbClr val="127D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" y="180594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1805940"/>
            <a:ext cx="251460" cy="285750"/>
          </a:xfrm>
          <a:prstGeom prst="rect">
            <a:avLst/>
          </a:prstGeom>
          <a:solidFill>
            <a:srgbClr val="3D6A69"/>
          </a:solidFill>
          <a:ln w="12700">
            <a:solidFill>
              <a:srgbClr val="3D6A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0140" y="180594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1805940"/>
            <a:ext cx="251460" cy="285750"/>
          </a:xfrm>
          <a:prstGeom prst="rect">
            <a:avLst/>
          </a:prstGeom>
          <a:solidFill>
            <a:srgbClr val="765155"/>
          </a:solidFill>
          <a:ln w="12700">
            <a:solidFill>
              <a:srgbClr val="765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180594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4520" y="1805940"/>
            <a:ext cx="251460" cy="285750"/>
          </a:xfrm>
          <a:prstGeom prst="rect">
            <a:avLst/>
          </a:prstGeom>
          <a:solidFill>
            <a:srgbClr val="3D6A69"/>
          </a:solidFill>
          <a:ln w="12700">
            <a:solidFill>
              <a:srgbClr val="3D6A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25980" y="180594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091690"/>
            <a:ext cx="251460" cy="285750"/>
          </a:xfrm>
          <a:prstGeom prst="rect">
            <a:avLst/>
          </a:prstGeom>
          <a:solidFill>
            <a:srgbClr val="157B77"/>
          </a:solidFill>
          <a:ln w="12700">
            <a:solidFill>
              <a:srgbClr val="157B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" y="20916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209169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0140" y="2091690"/>
            <a:ext cx="251460" cy="285750"/>
          </a:xfrm>
          <a:prstGeom prst="rect">
            <a:avLst/>
          </a:prstGeom>
          <a:solidFill>
            <a:srgbClr val="A93B44"/>
          </a:solidFill>
          <a:ln w="12700">
            <a:solidFill>
              <a:srgbClr val="A93B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091690"/>
            <a:ext cx="251460" cy="285750"/>
          </a:xfrm>
          <a:prstGeom prst="rect">
            <a:avLst/>
          </a:prstGeom>
          <a:solidFill>
            <a:srgbClr val="CA2D38"/>
          </a:solidFill>
          <a:ln w="12700">
            <a:solidFill>
              <a:srgbClr val="CA2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3060" y="2091690"/>
            <a:ext cx="251460" cy="285750"/>
          </a:xfrm>
          <a:prstGeom prst="rect">
            <a:avLst/>
          </a:prstGeom>
          <a:solidFill>
            <a:srgbClr val="A93B44"/>
          </a:solidFill>
          <a:ln w="12700">
            <a:solidFill>
              <a:srgbClr val="A93B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74520" y="209169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5980" y="20916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377440"/>
            <a:ext cx="251460" cy="285750"/>
          </a:xfrm>
          <a:prstGeom prst="rect">
            <a:avLst/>
          </a:prstGeom>
          <a:solidFill>
            <a:srgbClr val="177B76"/>
          </a:solidFill>
          <a:ln w="12700">
            <a:solidFill>
              <a:srgbClr val="177B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" y="2377440"/>
            <a:ext cx="251460" cy="285750"/>
          </a:xfrm>
          <a:prstGeom prst="rect">
            <a:avLst/>
          </a:prstGeom>
          <a:solidFill>
            <a:srgbClr val="356E6C"/>
          </a:solidFill>
          <a:ln w="12700">
            <a:solidFill>
              <a:srgbClr val="356E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2377440"/>
            <a:ext cx="251460" cy="285750"/>
          </a:xfrm>
          <a:prstGeom prst="rect">
            <a:avLst/>
          </a:prstGeom>
          <a:solidFill>
            <a:srgbClr val="765155"/>
          </a:solidFill>
          <a:ln w="12700">
            <a:solidFill>
              <a:srgbClr val="765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0140" y="2377440"/>
            <a:ext cx="251460" cy="285750"/>
          </a:xfrm>
          <a:prstGeom prst="rect">
            <a:avLst/>
          </a:prstGeom>
          <a:solidFill>
            <a:srgbClr val="CA2D38"/>
          </a:solidFill>
          <a:ln w="12700">
            <a:solidFill>
              <a:srgbClr val="CA2D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2377440"/>
            <a:ext cx="251460" cy="285750"/>
          </a:xfrm>
          <a:prstGeom prst="rect">
            <a:avLst/>
          </a:prstGeom>
          <a:solidFill>
            <a:srgbClr val="F31B2A"/>
          </a:solidFill>
          <a:ln w="12700">
            <a:solidFill>
              <a:srgbClr val="F3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23060" y="2377440"/>
            <a:ext cx="251460" cy="285750"/>
          </a:xfrm>
          <a:prstGeom prst="rect">
            <a:avLst/>
          </a:prstGeom>
          <a:solidFill>
            <a:srgbClr val="CA2D38"/>
          </a:solidFill>
          <a:ln w="12700">
            <a:solidFill>
              <a:srgbClr val="CA2D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2377440"/>
            <a:ext cx="251460" cy="285750"/>
          </a:xfrm>
          <a:prstGeom prst="rect">
            <a:avLst/>
          </a:prstGeom>
          <a:solidFill>
            <a:srgbClr val="765155"/>
          </a:solidFill>
          <a:ln w="12700">
            <a:solidFill>
              <a:srgbClr val="765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25980" y="2377440"/>
            <a:ext cx="251460" cy="285750"/>
          </a:xfrm>
          <a:prstGeom prst="rect">
            <a:avLst/>
          </a:prstGeom>
          <a:solidFill>
            <a:srgbClr val="356E6C"/>
          </a:solidFill>
          <a:ln w="12700">
            <a:solidFill>
              <a:srgbClr val="356E6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663190"/>
            <a:ext cx="251460" cy="285750"/>
          </a:xfrm>
          <a:prstGeom prst="rect">
            <a:avLst/>
          </a:prstGeom>
          <a:solidFill>
            <a:srgbClr val="157B77"/>
          </a:solidFill>
          <a:ln w="12700">
            <a:solidFill>
              <a:srgbClr val="157B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" y="26631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266319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0140" y="2663190"/>
            <a:ext cx="251460" cy="285750"/>
          </a:xfrm>
          <a:prstGeom prst="rect">
            <a:avLst/>
          </a:prstGeom>
          <a:solidFill>
            <a:srgbClr val="A93B44"/>
          </a:solidFill>
          <a:ln w="12700">
            <a:solidFill>
              <a:srgbClr val="A93B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0" y="2663190"/>
            <a:ext cx="251460" cy="285750"/>
          </a:xfrm>
          <a:prstGeom prst="rect">
            <a:avLst/>
          </a:prstGeom>
          <a:solidFill>
            <a:srgbClr val="CA2D38"/>
          </a:solidFill>
          <a:ln w="12700">
            <a:solidFill>
              <a:srgbClr val="CA2D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23060" y="2663190"/>
            <a:ext cx="251460" cy="285750"/>
          </a:xfrm>
          <a:prstGeom prst="rect">
            <a:avLst/>
          </a:prstGeom>
          <a:solidFill>
            <a:srgbClr val="A93B44"/>
          </a:solidFill>
          <a:ln w="12700">
            <a:solidFill>
              <a:srgbClr val="A93B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266319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25980" y="26631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2948940"/>
            <a:ext cx="251460" cy="285750"/>
          </a:xfrm>
          <a:prstGeom prst="rect">
            <a:avLst/>
          </a:prstGeom>
          <a:solidFill>
            <a:srgbClr val="127D78"/>
          </a:solidFill>
          <a:ln w="12700">
            <a:solidFill>
              <a:srgbClr val="127D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7220" y="294894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8680" y="2948940"/>
            <a:ext cx="251460" cy="285750"/>
          </a:xfrm>
          <a:prstGeom prst="rect">
            <a:avLst/>
          </a:prstGeom>
          <a:solidFill>
            <a:srgbClr val="3D6A69"/>
          </a:solidFill>
          <a:ln w="12700">
            <a:solidFill>
              <a:srgbClr val="3D6A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0140" y="294894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2948940"/>
            <a:ext cx="251460" cy="285750"/>
          </a:xfrm>
          <a:prstGeom prst="rect">
            <a:avLst/>
          </a:prstGeom>
          <a:solidFill>
            <a:srgbClr val="765155"/>
          </a:solidFill>
          <a:ln w="12700">
            <a:solidFill>
              <a:srgbClr val="765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3060" y="2948940"/>
            <a:ext cx="251460" cy="285750"/>
          </a:xfrm>
          <a:prstGeom prst="rect">
            <a:avLst/>
          </a:prstGeom>
          <a:solidFill>
            <a:srgbClr val="64595C"/>
          </a:solidFill>
          <a:ln w="12700">
            <a:solidFill>
              <a:srgbClr val="6459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74520" y="2948940"/>
            <a:ext cx="251460" cy="285750"/>
          </a:xfrm>
          <a:prstGeom prst="rect">
            <a:avLst/>
          </a:prstGeom>
          <a:solidFill>
            <a:srgbClr val="3D6A69"/>
          </a:solidFill>
          <a:ln w="12700">
            <a:solidFill>
              <a:srgbClr val="3D6A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25980" y="294894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3234690"/>
            <a:ext cx="251460" cy="285750"/>
          </a:xfrm>
          <a:prstGeom prst="rect">
            <a:avLst/>
          </a:prstGeom>
          <a:solidFill>
            <a:srgbClr val="0F7E79"/>
          </a:solidFill>
          <a:ln w="12700">
            <a:solidFill>
              <a:srgbClr val="0F7E7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" y="3234690"/>
            <a:ext cx="251460" cy="285750"/>
          </a:xfrm>
          <a:prstGeom prst="rect">
            <a:avLst/>
          </a:prstGeom>
          <a:solidFill>
            <a:srgbClr val="147C78"/>
          </a:solidFill>
          <a:ln w="12700">
            <a:solidFill>
              <a:srgbClr val="147C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8680" y="323469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20140" y="32346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3234690"/>
            <a:ext cx="251460" cy="285750"/>
          </a:xfrm>
          <a:prstGeom prst="rect">
            <a:avLst/>
          </a:prstGeom>
          <a:solidFill>
            <a:srgbClr val="356E6C"/>
          </a:solidFill>
          <a:ln w="12700">
            <a:solidFill>
              <a:srgbClr val="356E6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23060" y="3234690"/>
            <a:ext cx="251460" cy="285750"/>
          </a:xfrm>
          <a:prstGeom prst="rect">
            <a:avLst/>
          </a:prstGeom>
          <a:solidFill>
            <a:srgbClr val="2E716F"/>
          </a:solidFill>
          <a:ln w="12700">
            <a:solidFill>
              <a:srgbClr val="2E716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74520" y="3234690"/>
            <a:ext cx="251460" cy="285750"/>
          </a:xfrm>
          <a:prstGeom prst="rect">
            <a:avLst/>
          </a:prstGeom>
          <a:solidFill>
            <a:srgbClr val="1F7774"/>
          </a:solidFill>
          <a:ln w="12700">
            <a:solidFill>
              <a:srgbClr val="1F77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25980" y="3234690"/>
            <a:ext cx="251460" cy="285750"/>
          </a:xfrm>
          <a:prstGeom prst="rect">
            <a:avLst/>
          </a:prstGeom>
          <a:solidFill>
            <a:srgbClr val="147C78"/>
          </a:solidFill>
          <a:ln w="12700">
            <a:solidFill>
              <a:srgbClr val="147C7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Predicted Thermal 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at (5,5) mm, σ=0.08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0" y="1170432"/>
            <a:ext cx="6035040" cy="1645920"/>
          </a:xfrm>
          <a:prstGeom prst="rect">
            <a:avLst/>
          </a:prstGeom>
          <a:solidFill>
            <a:srgbClr val="0B1622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34640" y="1207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Cross-Section Insights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2834640" y="1527048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OLS: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underestimates hotspot peak. Cannot follow exponential — systematic error pattern. Too low at centre, too high at mid-distance.
</a:t>
            </a:r>
            <a:r>
              <a:rPr lang="en-US" sz="10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peak shape but in a 'blocky', stepped manner. Piecewise-constant nature can't follow smooth curves.
</a:t>
            </a: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true physics curve almost perfectly, including the sharp central peak.</a:t>
            </a:r>
            <a:endParaRPr lang="en-US" sz="1000" dirty="0"/>
          </a:p>
        </p:txBody>
      </p:sp>
      <p:graphicFrame>
        <p:nvGraphicFramePr>
          <p:cNvPr id="73" name="Chart 0"/>
          <p:cNvGraphicFramePr/>
          <p:nvPr/>
        </p:nvGraphicFramePr>
        <p:xfrm>
          <a:off x="2743200" y="2907792"/>
          <a:ext cx="603504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5" name="Picture 74">
            <a:extLst>
              <a:ext uri="{FF2B5EF4-FFF2-40B4-BE49-F238E27FC236}">
                <a16:creationId xmlns:a16="http://schemas.microsoft.com/office/drawing/2014/main" id="{EC1F26A7-C457-A147-570E-B42599A799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500" t="7710" r="50809"/>
          <a:stretch>
            <a:fillRect/>
          </a:stretch>
        </p:blipFill>
        <p:spPr>
          <a:xfrm>
            <a:off x="-2326306" y="1143000"/>
            <a:ext cx="4925127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Why Each Model Performs As It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reasoning behind the performance gap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889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889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Linear Models — Hard Ceiling at R² = 0.92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governing equation contains exp(−r²/2σ²) — a 3-way nonlinear interaction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2402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can only fit: w₁·r² + w₂·σ + w₃·Q_block (additive)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78892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represent the product-inside-exponential 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3375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data or tuning can overcome this structural limitation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8862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0.08 gap in R² directly quantifies the 'locked-in' nonlinear physics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7889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8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2788920" cy="4572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61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— Piecewise Approximation at R² = 0.95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169164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Gaussian via recursive binary splits on r², σ, Q_block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22402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'if r² &lt; 0.01 AND σ &lt; 0.1 AND Q &gt; 10 → predict 370 K'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78892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average away individual variance — strong ensemble effect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33375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R² = 0.9524 matches test R² exactly — robust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38862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gap: piecewise-constant predictions can't follow smooth curves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143000"/>
            <a:ext cx="27889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143000"/>
            <a:ext cx="278892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161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Neural Network — Near-Perfect at R² = 0.98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169164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approximation theorem: MLP can approximate any smooth function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27648" y="22402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differentiable predictions — can follow the exponential curve exactly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7648" y="278892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learns linear combinations; Layer 2–3 compose nonlinear interactions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33375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prevents overfitting — generalises to unseen test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388620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smooth, physically-accurate thermal surface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This Model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temperature at any spatial point given chip properties and known hotspot location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steady-state (equilibrium) thermal conditions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 single Gaussian hotspot per sample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fast surrogate predictions (milliseconds vs hours for FEM)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physically consistent, interpretable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This Model Does NOT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discover where hotspots are — hotspot location is a required 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handle multiple overlapping heat sources (real chips have many)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model transient (time-varying) workloads or thermal dynamics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use real chip measurements — synthetic data needs real-world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9319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generalise to chip architectures outside the training parameter ranges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868680"/>
          </a:xfrm>
          <a:prstGeom prst="rect">
            <a:avLst/>
          </a:prstGeom>
          <a:solidFill>
            <a:srgbClr val="0B1622"/>
          </a:solidFill>
          <a:ln w="1524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57200" cy="868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064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is the best model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0.9797, RMSE = 2.355 K, Max Error = 10.45 K — near-perfect thermal prediction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60520" cy="868680"/>
          </a:xfrm>
          <a:prstGeom prst="rect">
            <a:avLst/>
          </a:prstGeom>
          <a:solidFill>
            <a:srgbClr val="0B1622"/>
          </a:solidFill>
          <a:ln w="15240">
            <a:solidFill>
              <a:srgbClr val="F482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457200" cy="86868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122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gap quantified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ceiling at R² = 0.919 due to the Gaussian physics. The 0.06 gap is structurally locked.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160520" cy="868680"/>
          </a:xfrm>
          <a:prstGeom prst="rect">
            <a:avLst/>
          </a:prstGeom>
          <a:solidFill>
            <a:srgbClr val="0B1622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51560"/>
            <a:ext cx="45720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1064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consistency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94960" y="14173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learn correct sign and magnitude relationships — physically trustworthy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57400"/>
            <a:ext cx="4160520" cy="868680"/>
          </a:xfrm>
          <a:prstGeom prst="rect">
            <a:avLst/>
          </a:prstGeom>
          <a:solidFill>
            <a:srgbClr val="0B1622"/>
          </a:solidFill>
          <a:ln w="1524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057400"/>
            <a:ext cx="45720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484632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1122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= 96.8%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94960" y="242316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boundary_temp, power_density, die_thickness, thermal_cond_si, r_sq dominate chip temperature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B1622"/>
          </a:solidFill>
          <a:ln w="12700">
            <a:solidFill>
              <a:srgbClr val="0B16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5445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Physics-Informed NNs (PINNs)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21408" y="45445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CNN for full thermal map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77056" y="45445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Graph NNs for multi-hotspot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32704" y="45445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Transient LSTM modelling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88352" y="45445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 chip validation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1656</Words>
  <Application>Microsoft Office PowerPoint</Application>
  <PresentationFormat>On-screen Show (16:9)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 Hotspot Prediction in Electronic Chips</dc:title>
  <dc:subject>PptxGenJS Presentation</dc:subject>
  <dc:creator>PptxGenJS</dc:creator>
  <cp:lastModifiedBy>Saumya Singhal IIT Kanpur</cp:lastModifiedBy>
  <cp:revision>3</cp:revision>
  <dcterms:created xsi:type="dcterms:W3CDTF">2026-04-13T15:35:25Z</dcterms:created>
  <dcterms:modified xsi:type="dcterms:W3CDTF">2026-04-20T07:55:45Z</dcterms:modified>
</cp:coreProperties>
</file>